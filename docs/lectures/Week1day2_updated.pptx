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340" r:id="rId3"/>
    <p:sldId id="341" r:id="rId4"/>
    <p:sldId id="342" r:id="rId5"/>
    <p:sldId id="339" r:id="rId6"/>
    <p:sldId id="353" r:id="rId7"/>
    <p:sldId id="285" r:id="rId8"/>
    <p:sldId id="338" r:id="rId9"/>
    <p:sldId id="332" r:id="rId10"/>
    <p:sldId id="331" r:id="rId11"/>
    <p:sldId id="257" r:id="rId12"/>
    <p:sldId id="288" r:id="rId13"/>
    <p:sldId id="343" r:id="rId14"/>
    <p:sldId id="344" r:id="rId15"/>
    <p:sldId id="345" r:id="rId16"/>
    <p:sldId id="351" r:id="rId17"/>
    <p:sldId id="346" r:id="rId18"/>
    <p:sldId id="352" r:id="rId19"/>
    <p:sldId id="347" r:id="rId20"/>
    <p:sldId id="348" r:id="rId21"/>
    <p:sldId id="349" r:id="rId22"/>
    <p:sldId id="337" r:id="rId23"/>
    <p:sldId id="32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/>
    <p:restoredTop sz="72378"/>
  </p:normalViewPr>
  <p:slideViewPr>
    <p:cSldViewPr snapToGrid="0">
      <p:cViewPr>
        <p:scale>
          <a:sx n="50" d="100"/>
          <a:sy n="50" d="100"/>
        </p:scale>
        <p:origin x="2008" y="368"/>
      </p:cViewPr>
      <p:guideLst/>
    </p:cSldViewPr>
  </p:slideViewPr>
  <p:notesTextViewPr>
    <p:cViewPr>
      <p:scale>
        <a:sx n="120" d="100"/>
        <a:sy n="1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D990-2D30-1C48-890A-593850A245FD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F97ECC-A9BC-BA4D-AA4C-AE4808B16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70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F97ECC-A9BC-BA4D-AA4C-AE4808B163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3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231B9-14AC-BF25-3AA8-6920ECEE8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B93017-908B-A0E0-EFFC-7C08F9823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A52B8-EA4D-C875-31DE-38D68F0EF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52D25-74ED-C043-9ED2-A2AC0752355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5634D-8E12-56C3-B10E-72FBB6E2E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10C13-935D-65A4-FEF8-BEBD2C2C3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3832-794D-4A48-8BB6-B1D42B734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56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29C3-B1DF-1140-443B-6A48E7B73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CE00D-C09E-A2BD-F0BC-071F39EE9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35BB0-71AC-3778-001F-AEDFAB51F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52D25-74ED-C043-9ED2-A2AC0752355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81D6E-8B5D-D44B-C102-ECCD8CDF4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46646-2B9D-5AD4-C072-4B368C0B2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3832-794D-4A48-8BB6-B1D42B734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96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1E1BD-A985-D53D-1158-37212A7C6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74668-79A5-54DB-8AF5-55F499486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471D2-2992-6C21-AA7C-ABCC7BBD2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52D25-74ED-C043-9ED2-A2AC0752355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D76F1-E812-E85F-7D14-E3FEA3862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1CE32-F08C-1480-1DC9-CDC4B8F5E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3832-794D-4A48-8BB6-B1D42B734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675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FA9FD-151D-C18C-3AC9-E051A94D8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A33E3-B9E3-C5C3-9DA3-6EA8FD40E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6D86A-3BED-0BAB-9D40-1D2AA6E17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5C534-BCF5-3F3F-6435-ED5D4D283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52D25-74ED-C043-9ED2-A2AC0752355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34073-9E1E-12D6-9E78-8E66B1B0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7D89A-2E2F-7C58-75F7-90E349E13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3832-794D-4A48-8BB6-B1D42B734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54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D99D1-CD7B-70B7-1797-8B5CA3E07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AD8DE-3C29-1535-2490-BD9260036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9FAD34-EEA6-B8B1-23F2-AD686F643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80287E-7044-74E4-3375-F8BD4A9195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EECA4A-F431-B18C-20B8-956E0C66F4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1E817D-E32D-9D50-DC1B-224B9055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52D25-74ED-C043-9ED2-A2AC0752355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B4F849-3024-0223-B482-92F521A3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AC6883-0411-25FC-9764-8B9FAE8D7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3832-794D-4A48-8BB6-B1D42B734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49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DABF5-9ECF-7893-42F1-680BC532A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065405-4ECD-269D-6147-45E808492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52D25-74ED-C043-9ED2-A2AC0752355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F86F23-FF68-DEED-343B-ECE9080AB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AC95B-F7DA-6956-8D70-4558AF6F2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3832-794D-4A48-8BB6-B1D42B734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58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F7264B-4CAF-EDC9-F916-D3485C63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52D25-74ED-C043-9ED2-A2AC0752355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45CCB-9F5B-C9BE-69C7-4CD966B6F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F352D-1FF4-67BD-DEBD-2F0850223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3832-794D-4A48-8BB6-B1D42B734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65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5BB1B-EF2A-A3A3-ED6E-673D8F21C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9867F-CEFF-F921-85E2-218AD899E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1790E-C9EA-4F7C-53BD-C7CF84AB0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9AB97-8C5A-3B50-BB64-D2C6F1A29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52D25-74ED-C043-9ED2-A2AC0752355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28C97-5E8A-D638-7107-E17855972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1632C-D79D-FE8F-8CE6-A4CBA7B7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3832-794D-4A48-8BB6-B1D42B734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21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7FF54-A6BC-B2D2-B288-2149EDCF0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6CB96A-B72F-1400-D25C-D1EF061394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7A2C1-A2FF-75A2-D562-147FF88D1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9217B0-271E-6F43-BF1C-33AB036D5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52D25-74ED-C043-9ED2-A2AC0752355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6FEBE-E647-2834-BAE2-FEAC3E061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CC608-A72A-E85B-90FA-42377630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3832-794D-4A48-8BB6-B1D42B734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08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B8F0-9BF2-D853-B1EB-F1AE35A05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BB71BC-F7D7-F7C4-E715-37B972C12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0B0DE-734D-1202-D176-6235843E6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52D25-74ED-C043-9ED2-A2AC0752355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385C7-C553-62DC-2D63-96844C06C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D98EB-4642-DA37-1732-35836A8A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3832-794D-4A48-8BB6-B1D42B734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71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8633EA-F2C6-C573-5D1E-574A71EA80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B4AE9-F5DA-3B8C-1E63-4EEB125FA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7E862-20D5-F584-E367-950CEF9E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52D25-74ED-C043-9ED2-A2AC0752355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B5248-CC8B-CE82-8142-FEE20CE7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785E3-A2BC-0FCC-7A5B-B6A748DE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3832-794D-4A48-8BB6-B1D42B734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425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4999D9-7C29-6CFC-A212-C3841AB4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76692-B200-C98A-F11A-AF15958C6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DE092-2D06-FC88-F2F7-5419E546CF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52D25-74ED-C043-9ED2-A2AC0752355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9F1A6-4DB8-4815-2693-2F35A2F8BC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8170A-0CBD-8C57-9290-EAB606FE7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C33832-794D-4A48-8BB6-B1D42B734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33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kaychansiri.github.io/research-methods-in-the-age-of-ai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16E4D-97D3-2171-668C-88541E842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6100"/>
              <a:t>LLM Foundations I: From Natural Language Processing to Transformers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21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F76C9-9B98-208A-B011-18D5034DA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Website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CB3FA-9EAE-633A-B55E-2ED9DDE8F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https://kaychansiri.github.io/research-methods-in-the-age-of-ai/</a:t>
            </a:r>
            <a:endParaRPr lang="en-US" dirty="0"/>
          </a:p>
          <a:p>
            <a:r>
              <a:rPr lang="en-US" dirty="0"/>
              <a:t>The website is for accessing code used in class, lecture slides, and other supplementary materials.</a:t>
            </a:r>
          </a:p>
          <a:p>
            <a:r>
              <a:rPr lang="en-US" b="1" dirty="0"/>
              <a:t>Blackboard is still the main course platform</a:t>
            </a:r>
            <a:r>
              <a:rPr lang="en-US" dirty="0"/>
              <a:t> for checking the class schedule, assignments, announcements, and other course information.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5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FDB7E-8318-073C-E910-4D945284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2A960-9152-C78D-8BD5-0EA4880F4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Readings will be posted on Blackboard before each course block.</a:t>
            </a:r>
          </a:p>
        </p:txBody>
      </p:sp>
    </p:spTree>
    <p:extLst>
      <p:ext uri="{BB962C8B-B14F-4D97-AF65-F5344CB8AC3E}">
        <p14:creationId xmlns:p14="http://schemas.microsoft.com/office/powerpoint/2010/main" val="4228981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ACC800-B37D-B4EB-BA21-5A22E5F78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100" b="1"/>
              <a:t>Last Class: What Did We Learn?</a:t>
            </a:r>
            <a:br>
              <a:rPr lang="en-US" sz="4100" b="1"/>
            </a:br>
            <a:endParaRPr lang="en-US" sz="41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A8A21-7C4F-702E-1104-BF9E07163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40" y="2638698"/>
            <a:ext cx="4530898" cy="3639450"/>
          </a:xfrm>
        </p:spPr>
        <p:txBody>
          <a:bodyPr anchor="ctr">
            <a:normAutofit/>
          </a:bodyPr>
          <a:lstStyle/>
          <a:p>
            <a:pPr lvl="0"/>
            <a:r>
              <a:rPr lang="en-US" sz="2000" b="1" dirty="0"/>
              <a:t>Research is a process</a:t>
            </a:r>
            <a:r>
              <a:rPr lang="en-US" sz="2000" dirty="0"/>
              <a:t>, not just data analysis. </a:t>
            </a:r>
          </a:p>
          <a:p>
            <a:pPr lvl="0"/>
            <a:r>
              <a:rPr lang="en-US" sz="2000" b="1" dirty="0"/>
              <a:t>AI can support the entire research process.</a:t>
            </a:r>
            <a:r>
              <a:rPr lang="en-US" sz="2000" dirty="0"/>
              <a:t> </a:t>
            </a:r>
          </a:p>
          <a:p>
            <a:pPr lvl="0"/>
            <a:r>
              <a:rPr lang="en-US" sz="2000" b="1" dirty="0"/>
              <a:t>LLMs are one type of AI tool</a:t>
            </a:r>
            <a:r>
              <a:rPr lang="en-US" sz="2000" dirty="0"/>
              <a:t> we can use in research. </a:t>
            </a:r>
          </a:p>
          <a:p>
            <a:pPr lvl="0"/>
            <a:r>
              <a:rPr lang="en-US" sz="2000" b="1" dirty="0"/>
              <a:t>Python + </a:t>
            </a:r>
            <a:r>
              <a:rPr lang="en-US" sz="2000" b="1" dirty="0" err="1"/>
              <a:t>Colab</a:t>
            </a:r>
            <a:r>
              <a:rPr lang="en-US" sz="2000" dirty="0"/>
              <a:t> help us work with data and AI. </a:t>
            </a:r>
          </a:p>
          <a:p>
            <a:pPr lvl="0"/>
            <a:r>
              <a:rPr lang="en-US" sz="2000" b="1" dirty="0"/>
              <a:t>You are still the researcher</a:t>
            </a:r>
            <a:r>
              <a:rPr lang="en-US" sz="2000" dirty="0"/>
              <a:t> — AI does not replace your judgment.</a:t>
            </a:r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3B32DE-3E37-7FC2-44D1-30B8AC57E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381" y="2339921"/>
            <a:ext cx="6665981" cy="371628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59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8B89E-4D38-F33F-8442-F02CC9C9F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225" y="2766218"/>
            <a:ext cx="10515600" cy="1325563"/>
          </a:xfrm>
        </p:spPr>
        <p:txBody>
          <a:bodyPr/>
          <a:lstStyle/>
          <a:p>
            <a:r>
              <a:rPr lang="en-US" dirty="0"/>
              <a:t>What Is AI?</a:t>
            </a:r>
          </a:p>
        </p:txBody>
      </p:sp>
    </p:spTree>
    <p:extLst>
      <p:ext uri="{BB962C8B-B14F-4D97-AF65-F5344CB8AC3E}">
        <p14:creationId xmlns:p14="http://schemas.microsoft.com/office/powerpoint/2010/main" val="602843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84F31-ECE2-FC36-2C1A-8BED1E04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5E3CD-DC10-BC96-026C-A67ACC2E7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AE6616-CBDE-A117-150A-F76391C49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4"/>
            <a:ext cx="12192000" cy="681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92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77CE5-A285-98A9-AE17-58DA8F810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Why Study LLMs?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E799B-BC39-0B2E-F4F1-3D5486066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744" y="1554924"/>
            <a:ext cx="4530898" cy="3639450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2000" dirty="0"/>
              <a:t>1. Potential research tool across the process</a:t>
            </a:r>
          </a:p>
          <a:p>
            <a:pPr marL="0" lvl="0" indent="0">
              <a:buNone/>
            </a:pPr>
            <a:r>
              <a:rPr lang="en-US" sz="2000" dirty="0"/>
              <a:t>2. **Knowing the structure reveals the limitations**</a:t>
            </a:r>
          </a:p>
          <a:p>
            <a:pPr marL="0" lvl="0" indent="0">
              <a:buNone/>
            </a:pPr>
            <a:r>
              <a:rPr lang="en-US" sz="2000" dirty="0"/>
              <a:t>3. Can help with </a:t>
            </a:r>
            <a:r>
              <a:rPr lang="en-US" sz="2000"/>
              <a:t>text analysis 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EAB8C3-E31D-FABA-C8C0-1E2302477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287" y="2203079"/>
            <a:ext cx="6548075" cy="365055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65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D358D-B14C-8F5E-F48B-08073D6C4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Use an LLM to Develop a 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0BC7D-34CC-22F3-4988-925FA792F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 Think</a:t>
            </a:r>
            <a:br>
              <a:rPr lang="en-US" dirty="0"/>
            </a:br>
            <a:r>
              <a:rPr lang="en-US" dirty="0"/>
              <a:t>What are you curious about?</a:t>
            </a:r>
          </a:p>
          <a:p>
            <a:pPr marL="0" indent="0">
              <a:buNone/>
            </a:pPr>
            <a:r>
              <a:rPr lang="en-US" b="1" dirty="0"/>
              <a:t>2. Ask ChatGPT</a:t>
            </a:r>
            <a:br>
              <a:rPr lang="en-US" dirty="0"/>
            </a:br>
            <a:r>
              <a:rPr lang="en-US" dirty="0"/>
              <a:t>Help me turn this idea into a research question.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071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5CEE2-F1C6-6BA0-98F8-998AB9429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5472571-4F9E-48BC-4733-040DCB831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40E0C8-CC80-54A7-26BF-AA4ADB943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 fontScale="90000"/>
          </a:bodyPr>
          <a:lstStyle/>
          <a:p>
            <a:r>
              <a:rPr lang="en-US" sz="4800" dirty="0"/>
              <a:t>From Natural Language (NLP) Processing to LLMs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8ACD82-897D-3DB1-360D-3B1C073B2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59726F-8873-CBA2-208C-1BC88D790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E9E759-BD5D-C4D7-5A28-B9A529667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5730E7-A2CE-49AC-032C-9689AE606758}"/>
              </a:ext>
            </a:extLst>
          </p:cNvPr>
          <p:cNvSpPr txBox="1">
            <a:spLocks/>
          </p:cNvSpPr>
          <p:nvPr/>
        </p:nvSpPr>
        <p:spPr>
          <a:xfrm>
            <a:off x="808638" y="3511003"/>
            <a:ext cx="10471484" cy="920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NLP is the part of AI  that helps computers </a:t>
            </a:r>
            <a:r>
              <a:rPr lang="en-US" b="1" dirty="0"/>
              <a:t>understand and work with human language</a:t>
            </a:r>
            <a:r>
              <a:rPr lang="en-US" dirty="0"/>
              <a:t> in text or speech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078BF8-B512-736E-A21A-D7685CB7EA86}"/>
              </a:ext>
            </a:extLst>
          </p:cNvPr>
          <p:cNvSpPr txBox="1"/>
          <p:nvPr/>
        </p:nvSpPr>
        <p:spPr>
          <a:xfrm>
            <a:off x="808638" y="2649830"/>
            <a:ext cx="22317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What is NLP?</a:t>
            </a:r>
          </a:p>
        </p:txBody>
      </p:sp>
    </p:spTree>
    <p:extLst>
      <p:ext uri="{BB962C8B-B14F-4D97-AF65-F5344CB8AC3E}">
        <p14:creationId xmlns:p14="http://schemas.microsoft.com/office/powerpoint/2010/main" val="117927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E9B87B-A54E-1963-B495-8218CC815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16" y="289655"/>
            <a:ext cx="11240168" cy="627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222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F76B5-0CA2-6056-E384-59CEAA0BF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From NLP to LLMs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FF318C-F204-088C-F9A8-EC44ED097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2554439"/>
              </p:ext>
            </p:extLst>
          </p:nvPr>
        </p:nvGraphicFramePr>
        <p:xfrm>
          <a:off x="1391273" y="3017519"/>
          <a:ext cx="9405099" cy="3209904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023817">
                  <a:extLst>
                    <a:ext uri="{9D8B030D-6E8A-4147-A177-3AD203B41FA5}">
                      <a16:colId xmlns:a16="http://schemas.microsoft.com/office/drawing/2014/main" val="3149932388"/>
                    </a:ext>
                  </a:extLst>
                </a:gridCol>
                <a:gridCol w="3690641">
                  <a:extLst>
                    <a:ext uri="{9D8B030D-6E8A-4147-A177-3AD203B41FA5}">
                      <a16:colId xmlns:a16="http://schemas.microsoft.com/office/drawing/2014/main" val="906736812"/>
                    </a:ext>
                  </a:extLst>
                </a:gridCol>
                <a:gridCol w="3690641">
                  <a:extLst>
                    <a:ext uri="{9D8B030D-6E8A-4147-A177-3AD203B41FA5}">
                      <a16:colId xmlns:a16="http://schemas.microsoft.com/office/drawing/2014/main" val="3468444546"/>
                    </a:ext>
                  </a:extLst>
                </a:gridCol>
              </a:tblGrid>
              <a:tr h="39897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/>
                    </a:p>
                  </a:txBody>
                  <a:tcPr marL="90675" marR="90675" marT="45338" marB="453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NLP (earlier)</a:t>
                      </a:r>
                    </a:p>
                  </a:txBody>
                  <a:tcPr marL="90675" marR="90675" marT="45338" marB="453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LLMs (current)</a:t>
                      </a:r>
                    </a:p>
                  </a:txBody>
                  <a:tcPr marL="90675" marR="90675" marT="45338" marB="45338" anchor="ctr"/>
                </a:tc>
                <a:extLst>
                  <a:ext uri="{0D108BD9-81ED-4DB2-BD59-A6C34878D82A}">
                    <a16:rowId xmlns:a16="http://schemas.microsoft.com/office/drawing/2014/main" val="2026172669"/>
                  </a:ext>
                </a:extLst>
              </a:tr>
              <a:tr h="670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Goal</a:t>
                      </a:r>
                    </a:p>
                  </a:txBody>
                  <a:tcPr marL="90675" marR="90675" marT="45338" marB="453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Understand, interpret, generate language</a:t>
                      </a:r>
                    </a:p>
                  </a:txBody>
                  <a:tcPr marL="90675" marR="90675" marT="45338" marB="453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Same goal, much broader scope</a:t>
                      </a:r>
                    </a:p>
                  </a:txBody>
                  <a:tcPr marL="90675" marR="90675" marT="45338" marB="45338" anchor="ctr"/>
                </a:tc>
                <a:extLst>
                  <a:ext uri="{0D108BD9-81ED-4DB2-BD59-A6C34878D82A}">
                    <a16:rowId xmlns:a16="http://schemas.microsoft.com/office/drawing/2014/main" val="2272026113"/>
                  </a:ext>
                </a:extLst>
              </a:tr>
              <a:tr h="670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Examples</a:t>
                      </a:r>
                    </a:p>
                  </a:txBody>
                  <a:tcPr marL="90675" marR="90675" marT="45338" marB="453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Sentiment analysis, named entity recognition, machine translation</a:t>
                      </a:r>
                    </a:p>
                  </a:txBody>
                  <a:tcPr marL="90675" marR="90675" marT="45338" marB="453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GPT, Claude, LLaMA</a:t>
                      </a:r>
                    </a:p>
                  </a:txBody>
                  <a:tcPr marL="90675" marR="90675" marT="45338" marB="45338" anchor="ctr"/>
                </a:tc>
                <a:extLst>
                  <a:ext uri="{0D108BD9-81ED-4DB2-BD59-A6C34878D82A}">
                    <a16:rowId xmlns:a16="http://schemas.microsoft.com/office/drawing/2014/main" val="503021018"/>
                  </a:ext>
                </a:extLst>
              </a:tr>
              <a:tr h="398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Training</a:t>
                      </a:r>
                    </a:p>
                  </a:txBody>
                  <a:tcPr marL="90675" marR="90675" marT="45338" marB="453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Task-specific</a:t>
                      </a:r>
                    </a:p>
                  </a:txBody>
                  <a:tcPr marL="90675" marR="90675" marT="45338" marB="453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Massive, general-purpose</a:t>
                      </a:r>
                    </a:p>
                  </a:txBody>
                  <a:tcPr marL="90675" marR="90675" marT="45338" marB="45338" anchor="ctr"/>
                </a:tc>
                <a:extLst>
                  <a:ext uri="{0D108BD9-81ED-4DB2-BD59-A6C34878D82A}">
                    <a16:rowId xmlns:a16="http://schemas.microsoft.com/office/drawing/2014/main" val="2825197521"/>
                  </a:ext>
                </a:extLst>
              </a:tr>
              <a:tr h="398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Flexibility</a:t>
                      </a:r>
                    </a:p>
                  </a:txBody>
                  <a:tcPr marL="90675" marR="90675" marT="45338" marB="453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One task per model</a:t>
                      </a:r>
                    </a:p>
                  </a:txBody>
                  <a:tcPr marL="90675" marR="90675" marT="45338" marB="453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Many tasks, minimal retraining</a:t>
                      </a:r>
                    </a:p>
                  </a:txBody>
                  <a:tcPr marL="90675" marR="90675" marT="45338" marB="45338" anchor="ctr"/>
                </a:tc>
                <a:extLst>
                  <a:ext uri="{0D108BD9-81ED-4DB2-BD59-A6C34878D82A}">
                    <a16:rowId xmlns:a16="http://schemas.microsoft.com/office/drawing/2014/main" val="687265040"/>
                  </a:ext>
                </a:extLst>
              </a:tr>
              <a:tr h="670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Speed </a:t>
                      </a:r>
                    </a:p>
                  </a:txBody>
                  <a:tcPr marL="90675" marR="90675" marT="45338" marB="453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Slow, process one word at a time, bad at long-range processing </a:t>
                      </a:r>
                    </a:p>
                  </a:txBody>
                  <a:tcPr marL="90675" marR="90675" marT="45338" marB="453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Process all words simultaneously </a:t>
                      </a:r>
                    </a:p>
                  </a:txBody>
                  <a:tcPr marL="90675" marR="90675" marT="45338" marB="45338" anchor="ctr"/>
                </a:tc>
                <a:extLst>
                  <a:ext uri="{0D108BD9-81ED-4DB2-BD59-A6C34878D82A}">
                    <a16:rowId xmlns:a16="http://schemas.microsoft.com/office/drawing/2014/main" val="3114054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1083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D8619-656C-FBEE-B0F1-EEE781E4E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You'll Need Before We Go Further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B04069-C535-9DC6-EF16-1A6EB3C9D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919458"/>
              </p:ext>
            </p:extLst>
          </p:nvPr>
        </p:nvGraphicFramePr>
        <p:xfrm>
          <a:off x="883460" y="1810280"/>
          <a:ext cx="10425080" cy="438202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5212540">
                  <a:extLst>
                    <a:ext uri="{9D8B030D-6E8A-4147-A177-3AD203B41FA5}">
                      <a16:colId xmlns:a16="http://schemas.microsoft.com/office/drawing/2014/main" val="2812020779"/>
                    </a:ext>
                  </a:extLst>
                </a:gridCol>
                <a:gridCol w="5212540">
                  <a:extLst>
                    <a:ext uri="{9D8B030D-6E8A-4147-A177-3AD203B41FA5}">
                      <a16:colId xmlns:a16="http://schemas.microsoft.com/office/drawing/2014/main" val="3194930855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Term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Very simple meaning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74206943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AI</a:t>
                      </a:r>
                      <a:endParaRPr lang="en-US" sz="180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The broad idea of computers doing tasks that seem “smart”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151082286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Generative AI</a:t>
                      </a:r>
                      <a:endParaRPr lang="en-US" sz="180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AI that creates something new, such as text, images, audio, or video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55287787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LLM</a:t>
                      </a:r>
                      <a:endParaRPr lang="en-US" sz="180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 type of generative AI that works mainly with language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48916872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Model</a:t>
                      </a:r>
                      <a:endParaRPr lang="en-US" sz="180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The trained AI system doing the work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77162231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Transformer</a:t>
                      </a:r>
                      <a:endParaRPr lang="en-US" sz="180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The basic technology behind many modern LLMs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71531957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Training data</a:t>
                      </a:r>
                      <a:endParaRPr lang="en-US" sz="180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The information the model learns from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88092844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Token</a:t>
                      </a:r>
                      <a:endParaRPr lang="en-US" sz="180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 small piece of text the model works with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4060864727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Model size</a:t>
                      </a:r>
                      <a:endParaRPr lang="en-US" sz="180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Roughly, how big the model is based on how much it has learned internally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599104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03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7DF2D2-39E7-5AD2-3B8B-73EE72EDD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3800"/>
              <a:t>How LLMs Work: Training Time vs. User Time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87528-F271-69AA-CE8E-839CBC116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lvl="0"/>
            <a:r>
              <a:rPr lang="en-US" sz="2400" b="1"/>
              <a:t>Training time:</a:t>
            </a:r>
            <a:r>
              <a:rPr lang="en-US" sz="2400"/>
              <a:t> the model learns language patterns from large collections of text. </a:t>
            </a:r>
          </a:p>
          <a:p>
            <a:pPr lvl="0"/>
            <a:r>
              <a:rPr lang="en-US" sz="2400" b="1"/>
              <a:t>User time:</a:t>
            </a:r>
            <a:r>
              <a:rPr lang="en-US" sz="2400"/>
              <a:t> you type a prompt, and the model uses learned patterns to generate a response. </a:t>
            </a:r>
          </a:p>
          <a:p>
            <a:pPr lvl="0"/>
            <a:r>
              <a:rPr lang="en-US" sz="2400"/>
              <a:t>The model does not “look up” one answer. It predicts likely language based on patterns.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730019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F45BED-0756-B90E-CC2A-C5A4A8C19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000" dirty="0"/>
              <a:t>1. Training Time: Learning From Text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F59BA-457A-A06A-2976-974EE3F07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lvl="0"/>
            <a:r>
              <a:rPr lang="en-US" sz="2400"/>
              <a:t>Text from many sources is broken into smaller pieces called </a:t>
            </a:r>
            <a:r>
              <a:rPr lang="en-US" sz="2400" b="1"/>
              <a:t>tokens</a:t>
            </a:r>
            <a:r>
              <a:rPr lang="en-US" sz="2400"/>
              <a:t>. </a:t>
            </a:r>
          </a:p>
          <a:p>
            <a:pPr lvl="0"/>
            <a:r>
              <a:rPr lang="en-US" sz="2400"/>
              <a:t>The model learns which tokens tend to appear near each other. </a:t>
            </a:r>
          </a:p>
          <a:p>
            <a:pPr lvl="0"/>
            <a:r>
              <a:rPr lang="en-US" sz="2400"/>
              <a:t>It also learns broader patterns: topics, writing styles, arguments, examples, and associations. </a:t>
            </a:r>
          </a:p>
          <a:p>
            <a:pPr lvl="0"/>
            <a:r>
              <a:rPr lang="en-US" sz="2400"/>
              <a:t>These patterns are stored as numbers inside the model.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68266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D8533-F051-7ABD-F989-E4880E591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EF573-14C2-14A9-8CE2-DBB1D5EEC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1565B3-47DD-4B5A-3F5C-163A539773D9}"/>
              </a:ext>
            </a:extLst>
          </p:cNvPr>
          <p:cNvSpPr txBox="1"/>
          <p:nvPr/>
        </p:nvSpPr>
        <p:spPr>
          <a:xfrm>
            <a:off x="3048000" y="32501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90B357-9856-DCF4-FAF0-A9655492F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" y="383720"/>
            <a:ext cx="10515599" cy="587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843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5DDF2-8299-2911-0741-444BE34D0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Trained LLM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C0D987-4E98-626D-1E73-EE36648EF0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01885"/>
            <a:ext cx="9113940" cy="509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554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97BF9-D5CE-ECEC-AF69-A9D36F5F4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User Time: From Prompt to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68101-00AA-A132-046B-EC15384B2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You enter a prompt. </a:t>
            </a:r>
          </a:p>
          <a:p>
            <a:pPr lvl="0"/>
            <a:r>
              <a:rPr lang="en-US" dirty="0"/>
              <a:t>The prompt is also broken into tokens. </a:t>
            </a:r>
          </a:p>
          <a:p>
            <a:pPr lvl="0"/>
            <a:r>
              <a:rPr lang="en-US" dirty="0"/>
              <a:t>The model processes those tokens using the </a:t>
            </a:r>
            <a:r>
              <a:rPr lang="en-US" b="1" dirty="0"/>
              <a:t>patterns and relationships it learned during training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It generates a response </a:t>
            </a:r>
            <a:r>
              <a:rPr lang="en-US" b="1" dirty="0"/>
              <a:t>one token at a time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688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FD1C68D-7767-DF31-681B-AF0C1B306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169" y="285628"/>
            <a:ext cx="10553283" cy="5894998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A5A6A5C6-6677-1093-CA44-657669798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101" y="2157045"/>
            <a:ext cx="2953232" cy="164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836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E6BE73-89B7-3A9F-7A06-EC42895EE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3800"/>
              <a:t>Why Different Prompts Give Different Outputs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3D7C2-BCB7-3C54-4B9C-E60EE5F67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lvl="0"/>
            <a:r>
              <a:rPr lang="en-US" sz="2400"/>
              <a:t>Changing words changes the pattern the model follows. </a:t>
            </a:r>
          </a:p>
          <a:p>
            <a:pPr lvl="0"/>
            <a:r>
              <a:rPr lang="en-US" sz="2400"/>
              <a:t>More specific prompts usually guide the model better. </a:t>
            </a:r>
          </a:p>
          <a:p>
            <a:pPr lvl="0"/>
            <a:r>
              <a:rPr lang="en-US" sz="2400"/>
              <a:t>Different users may receive different outputs because they provide different context. </a:t>
            </a:r>
          </a:p>
          <a:p>
            <a:pPr lvl="0"/>
            <a:r>
              <a:rPr lang="en-US" sz="2400"/>
              <a:t>This is why researchers must evaluate the output.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49220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977D00-A80A-30B8-2E95-73163228F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What We Learned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F2444-E5BF-77BE-E628-1772CA11C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lvl="0"/>
            <a:r>
              <a:rPr lang="en-US" sz="2400"/>
              <a:t>AI can help turn a broad interest into a researchable question. </a:t>
            </a:r>
          </a:p>
          <a:p>
            <a:pPr lvl="0"/>
            <a:r>
              <a:rPr lang="en-US" sz="2400"/>
              <a:t>But the human researcher decides whether the question is clear, meaningful, and feasible. </a:t>
            </a:r>
          </a:p>
          <a:p>
            <a:pPr lvl="0"/>
            <a:r>
              <a:rPr lang="en-US" sz="2400"/>
              <a:t>Better input usually leads to better output. </a:t>
            </a:r>
          </a:p>
          <a:p>
            <a:pPr lvl="0"/>
            <a:r>
              <a:rPr lang="en-US" sz="2400"/>
              <a:t>AI assistance is useful, but not the same as methodological judgment.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80321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F4F368-5C8C-4410-6B83-2560292D1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4600"/>
              <a:t>What We Are Not Memorizing Today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92E48-8195-E6AE-5BD2-2D527FF15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lvl="0"/>
            <a:r>
              <a:rPr lang="en-US" sz="2400"/>
              <a:t>You do </a:t>
            </a:r>
            <a:r>
              <a:rPr lang="en-US" sz="2400" b="1"/>
              <a:t>not</a:t>
            </a:r>
            <a:r>
              <a:rPr lang="en-US" sz="2400"/>
              <a:t> need to memorize equations. </a:t>
            </a:r>
          </a:p>
          <a:p>
            <a:pPr lvl="0"/>
            <a:r>
              <a:rPr lang="en-US" sz="2400"/>
              <a:t>You do </a:t>
            </a:r>
            <a:r>
              <a:rPr lang="en-US" sz="2400" b="1"/>
              <a:t>not</a:t>
            </a:r>
            <a:r>
              <a:rPr lang="en-US" sz="2400"/>
              <a:t> need to become an AI engineer. </a:t>
            </a:r>
          </a:p>
          <a:p>
            <a:pPr lvl="0"/>
            <a:r>
              <a:rPr lang="en-US" sz="2400"/>
              <a:t>You only need to understand the basic logic:</a:t>
            </a:r>
            <a:br>
              <a:rPr lang="en-US" sz="2400"/>
            </a:br>
            <a:r>
              <a:rPr lang="en-US" sz="2400" b="1"/>
              <a:t>text → tokens → patterns → generated response</a:t>
            </a:r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802654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8CE361-D1DB-4D11-5CD5-FC3C3B6D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br>
              <a:rPr lang="en-US" sz="4100" dirty="0"/>
            </a:br>
            <a:r>
              <a:rPr lang="en-US" sz="4100" dirty="0"/>
              <a:t>Assignment 1</a:t>
            </a:r>
            <a:r>
              <a:rPr lang="en-US" sz="4100" dirty="0">
                <a:sym typeface="Wingdings" pitchFamily="2" charset="2"/>
              </a:rPr>
              <a:t> (Due Next Tuesday)</a:t>
            </a:r>
            <a:endParaRPr lang="en-US" sz="4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2872B-DC6F-54B0-92C0-04BFF7985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lvl="0"/>
            <a:r>
              <a:rPr lang="en-US" sz="2000" dirty="0"/>
              <a:t>Go to </a:t>
            </a:r>
            <a:r>
              <a:rPr lang="en-US" sz="2000" dirty="0" err="1"/>
              <a:t>colab.research.google.com</a:t>
            </a:r>
            <a:endParaRPr lang="en-US" sz="2000" dirty="0"/>
          </a:p>
          <a:p>
            <a:pPr lvl="0"/>
            <a:r>
              <a:rPr lang="en-US" sz="2000" dirty="0"/>
              <a:t>Sign in with your Google account</a:t>
            </a:r>
          </a:p>
          <a:p>
            <a:pPr lvl="0"/>
            <a:r>
              <a:rPr lang="en-US" sz="2000" dirty="0"/>
              <a:t>Click "New Notebook"</a:t>
            </a:r>
          </a:p>
          <a:p>
            <a:pPr lvl="0"/>
            <a:r>
              <a:rPr lang="en-US" sz="2000" dirty="0"/>
              <a:t>You'll see an empty gray box — that's a code cell</a:t>
            </a:r>
          </a:p>
          <a:p>
            <a:pPr lvl="0"/>
            <a:r>
              <a:rPr lang="en-US" sz="2000" dirty="0"/>
              <a:t>Take a screenshot of your </a:t>
            </a:r>
            <a:r>
              <a:rPr lang="en-US" sz="2000" dirty="0" err="1"/>
              <a:t>Colab</a:t>
            </a:r>
            <a:r>
              <a:rPr lang="en-US" sz="2000" dirty="0"/>
              <a:t> window</a:t>
            </a:r>
          </a:p>
          <a:p>
            <a:pPr lvl="0"/>
            <a:r>
              <a:rPr lang="en-US" sz="2000" dirty="0"/>
              <a:t>Upload the screenshot to </a:t>
            </a:r>
            <a:r>
              <a:rPr lang="en-US" sz="2000" dirty="0" err="1"/>
              <a:t>BlackBoard</a:t>
            </a:r>
            <a:r>
              <a:rPr lang="en-US" sz="20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AC97C4-56A6-FD36-F152-7CE0F69F8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99300"/>
            <a:ext cx="5150277" cy="288415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77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93D45-B2B2-3AC6-60AB-F476E8603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Next: Inside the Transformer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101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3582</TotalTime>
  <Words>781</Words>
  <Application>Microsoft Macintosh PowerPoint</Application>
  <PresentationFormat>Widescreen</PresentationFormat>
  <Paragraphs>99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Wingdings</vt:lpstr>
      <vt:lpstr>Office Theme</vt:lpstr>
      <vt:lpstr>LLM Foundations I: From Natural Language Processing to Transformers</vt:lpstr>
      <vt:lpstr>Course Website </vt:lpstr>
      <vt:lpstr>Readings</vt:lpstr>
      <vt:lpstr>Last Class: What Did We Learn? </vt:lpstr>
      <vt:lpstr>What Is AI?</vt:lpstr>
      <vt:lpstr>PowerPoint Presentation</vt:lpstr>
      <vt:lpstr>Why Study LLMs?</vt:lpstr>
      <vt:lpstr>Let’s Use an LLM to Develop a Research Question</vt:lpstr>
      <vt:lpstr>From Natural Language (NLP) Processing to LLMs</vt:lpstr>
      <vt:lpstr>PowerPoint Presentation</vt:lpstr>
      <vt:lpstr>From NLP to LLMs</vt:lpstr>
      <vt:lpstr>Vocabulary You'll Need Before We Go Further</vt:lpstr>
      <vt:lpstr>How LLMs Work: Training Time vs. User Time</vt:lpstr>
      <vt:lpstr>1. Training Time: Learning From Text</vt:lpstr>
      <vt:lpstr>PowerPoint Presentation</vt:lpstr>
      <vt:lpstr>Trained LLM</vt:lpstr>
      <vt:lpstr>2. User Time: From Prompt to Response</vt:lpstr>
      <vt:lpstr>PowerPoint Presentation</vt:lpstr>
      <vt:lpstr>Why Different Prompts Give Different Outputs</vt:lpstr>
      <vt:lpstr>What We Learned</vt:lpstr>
      <vt:lpstr>What We Are Not Memorizing Today</vt:lpstr>
      <vt:lpstr> Assignment 1 (Due Next Tuesday)</vt:lpstr>
      <vt:lpstr>Next: Inside the Transformer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Chansiri, Karikarn</dc:creator>
  <cp:lastModifiedBy>Chansiri, Karikarn</cp:lastModifiedBy>
  <cp:revision>55</cp:revision>
  <dcterms:created xsi:type="dcterms:W3CDTF">2026-08-04T15:52:13Z</dcterms:created>
  <dcterms:modified xsi:type="dcterms:W3CDTF">2026-08-21T17:22:54Z</dcterms:modified>
</cp:coreProperties>
</file>